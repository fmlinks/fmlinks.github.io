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4369" r:id="rId3"/>
    <p:sldId id="4377" r:id="rId4"/>
    <p:sldId id="4376" r:id="rId5"/>
    <p:sldId id="4378" r:id="rId6"/>
    <p:sldId id="4379" r:id="rId7"/>
    <p:sldId id="4380" r:id="rId8"/>
    <p:sldId id="4381" r:id="rId9"/>
    <p:sldId id="4382" r:id="rId10"/>
    <p:sldId id="257" r:id="rId11"/>
    <p:sldId id="4371" r:id="rId12"/>
    <p:sldId id="4372" r:id="rId13"/>
    <p:sldId id="4373" r:id="rId14"/>
    <p:sldId id="4370" r:id="rId15"/>
    <p:sldId id="4367" r:id="rId16"/>
    <p:sldId id="43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319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30/08/2025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18" Type="http://schemas.openxmlformats.org/officeDocument/2006/relationships/image" Target="../media/image5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" Type="http://schemas.openxmlformats.org/officeDocument/2006/relationships/image" Target="../media/image39.png"/><Relationship Id="rId16" Type="http://schemas.openxmlformats.org/officeDocument/2006/relationships/image" Target="../media/image53.png"/><Relationship Id="rId20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18" Type="http://schemas.openxmlformats.org/officeDocument/2006/relationships/image" Target="../media/image5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" Type="http://schemas.openxmlformats.org/officeDocument/2006/relationships/image" Target="../media/image39.png"/><Relationship Id="rId16" Type="http://schemas.openxmlformats.org/officeDocument/2006/relationships/image" Target="../media/image53.png"/><Relationship Id="rId20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D0326-5103-6A31-82BD-5A73DA34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Automatic workflow on MULTI-X. The images are from the @neurIST project.37,38 We applied a multi-tasking neural network to automatically segment these images39 and generate the corresponding patient-specific vascular surface models, and then we used ANSYS ICEM CFD v19.3 (Ansys Inc. Canonsburg, PA, USA) to generate unstructured volumetric meshes. The patient-specific inlet flow waveforms were generated from a multivariate Gaussian model (MGM)29 and a CARS model.22 Finally, the coupled Navier–Stokes equations and transport equation for RT were solved in ANSYS CFX v19.3 (Ansys Inc., Canonsburg, PA, USA) using a finite volume method.12">
            <a:extLst>
              <a:ext uri="{FF2B5EF4-FFF2-40B4-BE49-F238E27FC236}">
                <a16:creationId xmlns:a16="http://schemas.microsoft.com/office/drawing/2014/main" id="{D1351CC7-031E-9268-79A9-FA537300C0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"/>
          <a:stretch>
            <a:fillRect/>
          </a:stretch>
        </p:blipFill>
        <p:spPr bwMode="auto">
          <a:xfrm>
            <a:off x="50800" y="369555"/>
            <a:ext cx="9202057" cy="611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组合 5">
            <a:extLst>
              <a:ext uri="{FF2B5EF4-FFF2-40B4-BE49-F238E27FC236}">
                <a16:creationId xmlns:a16="http://schemas.microsoft.com/office/drawing/2014/main" id="{B69EC252-FFF8-913C-3082-D951D4065871}"/>
              </a:ext>
            </a:extLst>
          </p:cNvPr>
          <p:cNvGrpSpPr/>
          <p:nvPr/>
        </p:nvGrpSpPr>
        <p:grpSpPr>
          <a:xfrm>
            <a:off x="9550399" y="347907"/>
            <a:ext cx="2552220" cy="5783942"/>
            <a:chOff x="7547428" y="90748"/>
            <a:chExt cx="3243943" cy="7351553"/>
          </a:xfrm>
        </p:grpSpPr>
        <p:pic>
          <p:nvPicPr>
            <p:cNvPr id="2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717C2147-1173-FF58-5768-F6D3A001B3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7" r="-24" b="52554"/>
            <a:stretch>
              <a:fillRect/>
            </a:stretch>
          </p:blipFill>
          <p:spPr bwMode="auto">
            <a:xfrm>
              <a:off x="7547429" y="90748"/>
              <a:ext cx="3243942" cy="3292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Residence time (RT) and shear rate (SR) distribution in normotensive and hypertensive conditions.">
              <a:extLst>
                <a:ext uri="{FF2B5EF4-FFF2-40B4-BE49-F238E27FC236}">
                  <a16:creationId xmlns:a16="http://schemas.microsoft.com/office/drawing/2014/main" id="{35711F15-7CEA-B361-BDCC-F46D556E98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7236" t="52282" r="-23" b="272"/>
            <a:stretch>
              <a:fillRect/>
            </a:stretch>
          </p:blipFill>
          <p:spPr bwMode="auto">
            <a:xfrm>
              <a:off x="7547428" y="4149525"/>
              <a:ext cx="3243942" cy="32927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6415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75108-0353-2165-87CB-3BE83C438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D3C2D7D-FD4A-C443-036E-3379C30F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301"/>
            <a:ext cx="4274457" cy="324353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A952F0-810B-DBFF-94AE-F26153FAC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308"/>
          <a:stretch>
            <a:fillRect/>
          </a:stretch>
        </p:blipFill>
        <p:spPr>
          <a:xfrm>
            <a:off x="4738870" y="114301"/>
            <a:ext cx="3457532" cy="324353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F246A3A-420F-1A1B-6F90-A341C90B84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768"/>
          <a:stretch>
            <a:fillRect/>
          </a:stretch>
        </p:blipFill>
        <p:spPr>
          <a:xfrm>
            <a:off x="8660817" y="114301"/>
            <a:ext cx="3472233" cy="324886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6CF6BD09-3811-6FC2-E069-27DF42FBA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547928"/>
            <a:ext cx="4274456" cy="323387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C7863FD-69D2-B2BE-7C63-0212E164B1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085" b="1051"/>
          <a:stretch>
            <a:fillRect/>
          </a:stretch>
        </p:blipFill>
        <p:spPr>
          <a:xfrm>
            <a:off x="4738870" y="3526832"/>
            <a:ext cx="3457532" cy="32508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21943571-7C6B-5743-652A-4DB2BDE72AB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757"/>
          <a:stretch>
            <a:fillRect/>
          </a:stretch>
        </p:blipFill>
        <p:spPr>
          <a:xfrm>
            <a:off x="8660817" y="3547928"/>
            <a:ext cx="3474606" cy="3233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7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DBDE-4F7C-6A75-2BE2-010F773F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1F136B7-A402-7709-DD8B-58A6E5D4E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" t="2595" r="1072" b="1788"/>
          <a:stretch>
            <a:fillRect/>
          </a:stretch>
        </p:blipFill>
        <p:spPr>
          <a:xfrm>
            <a:off x="7989" y="373742"/>
            <a:ext cx="12175529" cy="613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71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2CE5-A6D7-0AE5-BFF4-110099D5C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84D6C9E5-CA09-652D-94DD-EB66930F7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539" y="4602027"/>
            <a:ext cx="2102101" cy="218122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34A195CF-594B-6490-7BCC-3F0ACB13C7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707"/>
          <a:stretch>
            <a:fillRect/>
          </a:stretch>
        </p:blipFill>
        <p:spPr>
          <a:xfrm>
            <a:off x="79827" y="74749"/>
            <a:ext cx="12003316" cy="457740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FC60D88C-7DAB-6430-4B2B-A5B0DB6AD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49" y="4739521"/>
            <a:ext cx="2902867" cy="14140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E4E703FC-E13B-7D1C-F781-93DB402130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967" y="4729995"/>
            <a:ext cx="2868660" cy="194666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B5513C9-7276-AFCB-0348-462CAA090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3" y="4721851"/>
            <a:ext cx="3010305" cy="158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9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A375-6D69-D20A-A58E-8E44D5C1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1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F21-6A91-73F8-762C-663C3E6CB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3519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A98E-C354-8021-00DD-231A214D8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350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6</Words>
  <Application>Microsoft Office PowerPoint</Application>
  <PresentationFormat>宽屏</PresentationFormat>
  <Paragraphs>6</Paragraphs>
  <Slides>16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18</cp:revision>
  <dcterms:created xsi:type="dcterms:W3CDTF">2025-08-29T15:58:35Z</dcterms:created>
  <dcterms:modified xsi:type="dcterms:W3CDTF">2025-08-30T07:30:43Z</dcterms:modified>
</cp:coreProperties>
</file>