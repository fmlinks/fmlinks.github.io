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4369" r:id="rId3"/>
    <p:sldId id="4377" r:id="rId4"/>
    <p:sldId id="4376" r:id="rId5"/>
    <p:sldId id="4378" r:id="rId6"/>
    <p:sldId id="4379" r:id="rId7"/>
    <p:sldId id="4380" r:id="rId8"/>
    <p:sldId id="4381" r:id="rId9"/>
    <p:sldId id="4382" r:id="rId10"/>
    <p:sldId id="4383" r:id="rId11"/>
    <p:sldId id="4384" r:id="rId12"/>
    <p:sldId id="257" r:id="rId13"/>
    <p:sldId id="4371" r:id="rId14"/>
    <p:sldId id="4372" r:id="rId15"/>
    <p:sldId id="4373" r:id="rId16"/>
    <p:sldId id="4370" r:id="rId17"/>
    <p:sldId id="4367" r:id="rId18"/>
    <p:sldId id="436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2319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751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084E-991F-6E1A-1F62-69FE2D52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AAB60-A317-A9BF-59B2-3A87076E5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BB3F3-3A3D-3B6E-5AA2-DB699CDB3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9D530C-3FC5-88A1-B747-59D33E155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08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94A5-85FF-C887-7FA7-F5716197F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A1B3CE-5544-4ABE-7B89-BD2468BE3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F292D5-0A31-EAC6-72A5-63E9DD423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0B5B6B-1010-68A7-95D2-612FCA943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94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270D-EFFC-80F9-38EE-8B37AFA6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8911EF-9DB7-B08E-9E89-BA7EC8D97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6C979A-9848-5CF9-8990-8A34AFAF6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84138-4FDC-D5EA-130D-7406FFE6B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46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4DBB9-B08E-2EA7-2BE2-B9F07475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E38BD8-74D8-5E8C-0BDB-D26E8CCC8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2D6066-B6FF-1AED-DE0D-F5EB55FAA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34785B-AE33-EDC1-2A5F-AAB16F46C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574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18" Type="http://schemas.openxmlformats.org/officeDocument/2006/relationships/image" Target="../media/image6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17" Type="http://schemas.openxmlformats.org/officeDocument/2006/relationships/image" Target="../media/image61.png"/><Relationship Id="rId2" Type="http://schemas.openxmlformats.org/officeDocument/2006/relationships/image" Target="../media/image46.png"/><Relationship Id="rId16" Type="http://schemas.openxmlformats.org/officeDocument/2006/relationships/image" Target="../media/image60.png"/><Relationship Id="rId20" Type="http://schemas.openxmlformats.org/officeDocument/2006/relationships/image" Target="../media/image6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10" Type="http://schemas.openxmlformats.org/officeDocument/2006/relationships/image" Target="../media/image54.png"/><Relationship Id="rId19" Type="http://schemas.openxmlformats.org/officeDocument/2006/relationships/image" Target="../media/image63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Relationship Id="rId14" Type="http://schemas.openxmlformats.org/officeDocument/2006/relationships/image" Target="../media/image58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18" Type="http://schemas.openxmlformats.org/officeDocument/2006/relationships/image" Target="../media/image6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17" Type="http://schemas.openxmlformats.org/officeDocument/2006/relationships/image" Target="../media/image61.png"/><Relationship Id="rId2" Type="http://schemas.openxmlformats.org/officeDocument/2006/relationships/image" Target="../media/image46.png"/><Relationship Id="rId16" Type="http://schemas.openxmlformats.org/officeDocument/2006/relationships/image" Target="../media/image60.png"/><Relationship Id="rId20" Type="http://schemas.openxmlformats.org/officeDocument/2006/relationships/image" Target="../media/image6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10" Type="http://schemas.openxmlformats.org/officeDocument/2006/relationships/image" Target="../media/image54.png"/><Relationship Id="rId19" Type="http://schemas.openxmlformats.org/officeDocument/2006/relationships/image" Target="../media/image63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Relationship Id="rId1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3982723" y="4899944"/>
            <a:ext cx="3666838" cy="1767651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6349" y="31750"/>
            <a:ext cx="7678017" cy="2317750"/>
          </a:xfrm>
          <a:prstGeom prst="rect">
            <a:avLst/>
          </a:prstGeom>
        </p:spPr>
      </p:pic>
      <p:grpSp>
        <p:nvGrpSpPr>
          <p:cNvPr id="25" name="组合 24">
            <a:extLst>
              <a:ext uri="{FF2B5EF4-FFF2-40B4-BE49-F238E27FC236}">
                <a16:creationId xmlns:a16="http://schemas.microsoft.com/office/drawing/2014/main" id="{DE5A888E-CD77-E4F2-FA87-FDB6D42D69C0}"/>
              </a:ext>
            </a:extLst>
          </p:cNvPr>
          <p:cNvGrpSpPr/>
          <p:nvPr/>
        </p:nvGrpSpPr>
        <p:grpSpPr>
          <a:xfrm>
            <a:off x="7787713" y="381026"/>
            <a:ext cx="4337836" cy="6089824"/>
            <a:chOff x="6708213" y="381026"/>
            <a:chExt cx="4337836" cy="608982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 r="31725"/>
            <a:stretch>
              <a:fillRect/>
            </a:stretch>
          </p:blipFill>
          <p:spPr>
            <a:xfrm>
              <a:off x="7124191" y="381026"/>
              <a:ext cx="2427250" cy="6089824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08213" y="381026"/>
              <a:ext cx="1301857" cy="6089824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4636" t="91499" r="56845"/>
            <a:stretch>
              <a:fillRect/>
            </a:stretch>
          </p:blipFill>
          <p:spPr>
            <a:xfrm>
              <a:off x="7478488" y="5953169"/>
              <a:ext cx="1254126" cy="517681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ABE96F1D-F544-44E8-41FC-FF53D4E85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3304" r="17153"/>
            <a:stretch>
              <a:fillRect/>
            </a:stretch>
          </p:blipFill>
          <p:spPr>
            <a:xfrm>
              <a:off x="9452273" y="381026"/>
              <a:ext cx="646272" cy="608982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8D573C2E-243A-897B-AF7F-FA7BE2342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5350"/>
            <a:stretch>
              <a:fillRect/>
            </a:stretch>
          </p:blipFill>
          <p:spPr>
            <a:xfrm>
              <a:off x="10053939" y="381026"/>
              <a:ext cx="992110" cy="608982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85" r="33531" b="4667"/>
          <a:stretch>
            <a:fillRect/>
          </a:stretch>
        </p:blipFill>
        <p:spPr>
          <a:xfrm>
            <a:off x="116613" y="2260497"/>
            <a:ext cx="7584580" cy="232319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83B01322-CAC0-BEA4-90F9-E53B2BFF30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742" t="8902" b="3892"/>
          <a:stretch>
            <a:fillRect/>
          </a:stretch>
        </p:blipFill>
        <p:spPr>
          <a:xfrm>
            <a:off x="137003" y="4583688"/>
            <a:ext cx="3759200" cy="212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AE8AB-3CE7-7E28-2D41-3C48375F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A45DCCE-6BFA-CFF5-8A13-D2FE76332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375F3E-7633-B661-C4B2-6A3622319838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CFF2236-134D-55BF-15DD-EF8DF984B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020344B5-8C62-DEB2-A674-665B9FE0F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41A60D57-EF5F-35DB-7129-3766C3E4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2ACA3A37-E6F4-0720-6C88-4DB5CF16D761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1AA22FE-D6BE-853E-1CBB-AE14506DA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C14D6DF3-8A51-ACF1-B67B-193012BBC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DB990063-D503-DA78-CFDE-6D92A4B1F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83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D0326-5103-6A31-82BD-5A73DA34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Automatic workflow on MULTI-X. The images are from the @neurIST project.37,38 We applied a multi-tasking neural network to automatically segment these images39 and generate the corresponding patient-specific vascular surface models, and then we used ANSYS ICEM CFD v19.3 (Ansys Inc. Canonsburg, PA, USA) to generate unstructured volumetric meshes. The patient-specific inlet flow waveforms were generated from a multivariate Gaussian model (MGM)29 and a CARS model.22 Finally, the coupled Navier–Stokes equations and transport equation for RT were solved in ANSYS CFX v19.3 (Ansys Inc., Canonsburg, PA, USA) using a finite volume method.12">
            <a:extLst>
              <a:ext uri="{FF2B5EF4-FFF2-40B4-BE49-F238E27FC236}">
                <a16:creationId xmlns:a16="http://schemas.microsoft.com/office/drawing/2014/main" id="{D1351CC7-031E-9268-79A9-FA537300C0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"/>
          <a:stretch>
            <a:fillRect/>
          </a:stretch>
        </p:blipFill>
        <p:spPr bwMode="auto">
          <a:xfrm>
            <a:off x="50800" y="369555"/>
            <a:ext cx="9202057" cy="611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B69EC252-FFF8-913C-3082-D951D4065871}"/>
              </a:ext>
            </a:extLst>
          </p:cNvPr>
          <p:cNvGrpSpPr/>
          <p:nvPr/>
        </p:nvGrpSpPr>
        <p:grpSpPr>
          <a:xfrm>
            <a:off x="9550399" y="347907"/>
            <a:ext cx="2552220" cy="5783942"/>
            <a:chOff x="7547428" y="90748"/>
            <a:chExt cx="3243943" cy="7351553"/>
          </a:xfrm>
        </p:grpSpPr>
        <p:pic>
          <p:nvPicPr>
            <p:cNvPr id="2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717C2147-1173-FF58-5768-F6D3A001B3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7" r="-24" b="52554"/>
            <a:stretch>
              <a:fillRect/>
            </a:stretch>
          </p:blipFill>
          <p:spPr bwMode="auto">
            <a:xfrm>
              <a:off x="7547429" y="90748"/>
              <a:ext cx="3243942" cy="3292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35711F15-7CEA-B361-BDCC-F46D556E98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6" t="52282" r="-23" b="272"/>
            <a:stretch>
              <a:fillRect/>
            </a:stretch>
          </p:blipFill>
          <p:spPr bwMode="auto">
            <a:xfrm>
              <a:off x="7547428" y="4149525"/>
              <a:ext cx="3243942" cy="3292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6415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75108-0353-2165-87CB-3BE83C43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D3C2D7D-FD4A-C443-036E-3379C30F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1"/>
            <a:ext cx="4274457" cy="32435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A952F0-810B-DBFF-94AE-F26153FAC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08"/>
          <a:stretch>
            <a:fillRect/>
          </a:stretch>
        </p:blipFill>
        <p:spPr>
          <a:xfrm>
            <a:off x="4738870" y="114301"/>
            <a:ext cx="3457532" cy="32435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F246A3A-420F-1A1B-6F90-A341C90B84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768"/>
          <a:stretch>
            <a:fillRect/>
          </a:stretch>
        </p:blipFill>
        <p:spPr>
          <a:xfrm>
            <a:off x="8660817" y="114301"/>
            <a:ext cx="3472233" cy="324886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CF6BD09-3811-6FC2-E069-27DF42FBA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547928"/>
            <a:ext cx="4274456" cy="32338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C7863FD-69D2-B2BE-7C63-0212E164B1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085" b="1051"/>
          <a:stretch>
            <a:fillRect/>
          </a:stretch>
        </p:blipFill>
        <p:spPr>
          <a:xfrm>
            <a:off x="4738870" y="3526832"/>
            <a:ext cx="3457532" cy="32508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21943571-7C6B-5743-652A-4DB2BDE72A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757"/>
          <a:stretch>
            <a:fillRect/>
          </a:stretch>
        </p:blipFill>
        <p:spPr>
          <a:xfrm>
            <a:off x="8660817" y="3547928"/>
            <a:ext cx="3474606" cy="323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57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DBDE-4F7C-6A75-2BE2-010F773F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1F136B7-A402-7709-DD8B-58A6E5D4E1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" t="2595" r="1072" b="1788"/>
          <a:stretch>
            <a:fillRect/>
          </a:stretch>
        </p:blipFill>
        <p:spPr>
          <a:xfrm>
            <a:off x="7989" y="373742"/>
            <a:ext cx="12175529" cy="613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71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2CE5-A6D7-0AE5-BFF4-110099D5C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4D6C9E5-CA09-652D-94DD-EB66930F7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539" y="4602027"/>
            <a:ext cx="2102101" cy="218122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34A195CF-594B-6490-7BCC-3F0ACB13C7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2707"/>
          <a:stretch>
            <a:fillRect/>
          </a:stretch>
        </p:blipFill>
        <p:spPr>
          <a:xfrm>
            <a:off x="79827" y="74749"/>
            <a:ext cx="12003316" cy="457740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C60D88C-7DAB-6430-4B2B-A5B0DB6AD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649" y="4739521"/>
            <a:ext cx="2902867" cy="14140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E4E703FC-E13B-7D1C-F781-93DB402130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967" y="4729995"/>
            <a:ext cx="2868660" cy="194666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B5513C9-7276-AFCB-0348-462CAA090C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663" y="4721851"/>
            <a:ext cx="3010305" cy="15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79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7A375-6D69-D20A-A58E-8E44D5C1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AB43B2B-A87F-2A22-BD00-873D00C72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243"/>
            <a:ext cx="12192000" cy="54382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BA488BB-0893-79DB-33C6-60B18F55AA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455" b="33563"/>
          <a:stretch>
            <a:fillRect/>
          </a:stretch>
        </p:blipFill>
        <p:spPr>
          <a:xfrm>
            <a:off x="3964549" y="5738964"/>
            <a:ext cx="4100980" cy="105543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7E90ED8-FCE4-9F9B-720B-462B715F9B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436"/>
          <a:stretch>
            <a:fillRect/>
          </a:stretch>
        </p:blipFill>
        <p:spPr>
          <a:xfrm>
            <a:off x="8048158" y="5729651"/>
            <a:ext cx="4100980" cy="107405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A33D53C-DE4F-B992-1CEC-C81E49EC4B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9" b="67018"/>
          <a:stretch>
            <a:fillRect/>
          </a:stretch>
        </p:blipFill>
        <p:spPr>
          <a:xfrm>
            <a:off x="42862" y="5729651"/>
            <a:ext cx="3977155" cy="105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1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F21-6A91-73F8-762C-663C3E6CB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C510291-D18D-BDCA-75EB-3651FBFC9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5" y="950914"/>
            <a:ext cx="12075150" cy="481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3519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BA98E-C354-8021-00DD-231A214D8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7331DB-A53C-6E0F-6413-95EDD34A9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066"/>
            <a:ext cx="6886163" cy="434191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60D42F5-823A-E0D7-3BA6-25778DEE7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210" y="-1"/>
            <a:ext cx="4869965" cy="488315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E6EC600-5197-9056-301B-50E3B15230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5529" y="5156200"/>
            <a:ext cx="5156471" cy="16436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AE453ED-8736-1388-C031-BAA5DC03A7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4317999"/>
            <a:ext cx="6757576" cy="2516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00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3E565-0648-79ED-44D5-77D05ADE4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5860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74E6E-F1DB-CE09-3080-7E8790882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3158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0FE06-01E6-6078-44FC-97494617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2DF96A59-02A9-3822-B356-92E75EC9176E}"/>
              </a:ext>
            </a:extLst>
          </p:cNvPr>
          <p:cNvGrpSpPr/>
          <p:nvPr/>
        </p:nvGrpSpPr>
        <p:grpSpPr>
          <a:xfrm>
            <a:off x="107950" y="0"/>
            <a:ext cx="11772900" cy="4556954"/>
            <a:chOff x="107950" y="1080673"/>
            <a:chExt cx="11772900" cy="4556954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C21453C4-39CD-AE1A-81A1-8502D8FBE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86" r="51250"/>
            <a:stretch>
              <a:fillRect/>
            </a:stretch>
          </p:blipFill>
          <p:spPr>
            <a:xfrm>
              <a:off x="107950" y="1080673"/>
              <a:ext cx="5835650" cy="4556954"/>
            </a:xfrm>
            <a:prstGeom prst="rect">
              <a:avLst/>
            </a:prstGeom>
          </p:spPr>
        </p:pic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DDB45426-6390-55F0-8D47-B722EF4303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1302"/>
            <a:stretch>
              <a:fillRect/>
            </a:stretch>
          </p:blipFill>
          <p:spPr>
            <a:xfrm>
              <a:off x="5943600" y="1080673"/>
              <a:ext cx="5937250" cy="455695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6E3A97BC-0695-D929-8A06-B0EB1FD5C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" y="4678352"/>
            <a:ext cx="2791465" cy="196737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D6208B0-3BBA-972B-4283-B271D854D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406" y="4751785"/>
            <a:ext cx="1709366" cy="20367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A2CA57A-D5AD-C5E1-8846-A9875F5E4B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0601" y="4761040"/>
            <a:ext cx="2776220" cy="188468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34C2F17-4EC2-A4FB-2779-2F1E46BA6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141" y="4761040"/>
            <a:ext cx="1748091" cy="202753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D93BBA7-D480-B5A4-2E63-B64C1DBFD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21" y="4751785"/>
            <a:ext cx="2776220" cy="189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4564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46179-5E64-976C-9E16-BD7A6F232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EBA73B3-0153-E668-1D5F-A35B422BC528}"/>
              </a:ext>
            </a:extLst>
          </p:cNvPr>
          <p:cNvGrpSpPr/>
          <p:nvPr/>
        </p:nvGrpSpPr>
        <p:grpSpPr>
          <a:xfrm>
            <a:off x="438150" y="34005"/>
            <a:ext cx="11220450" cy="6794453"/>
            <a:chOff x="0" y="564641"/>
            <a:chExt cx="10344150" cy="6263817"/>
          </a:xfrm>
        </p:grpSpPr>
        <p:pic>
          <p:nvPicPr>
            <p:cNvPr id="1026" name="Picture 2" descr="Fig. 1.">
              <a:extLst>
                <a:ext uri="{FF2B5EF4-FFF2-40B4-BE49-F238E27FC236}">
                  <a16:creationId xmlns:a16="http://schemas.microsoft.com/office/drawing/2014/main" id="{CD912C40-4821-36ED-7A4B-AC6BEFBA1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700" y="2692400"/>
              <a:ext cx="4229100" cy="28985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ig. 2.">
              <a:extLst>
                <a:ext uri="{FF2B5EF4-FFF2-40B4-BE49-F238E27FC236}">
                  <a16:creationId xmlns:a16="http://schemas.microsoft.com/office/drawing/2014/main" id="{E371A076-2389-806B-D6B4-32F2FB6AC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1100" y="2692400"/>
              <a:ext cx="5353050" cy="2904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ig. 3.">
              <a:extLst>
                <a:ext uri="{FF2B5EF4-FFF2-40B4-BE49-F238E27FC236}">
                  <a16:creationId xmlns:a16="http://schemas.microsoft.com/office/drawing/2014/main" id="{FC5A3947-71E0-D772-0B44-E1EA78E8D4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759023"/>
              <a:ext cx="10344150" cy="10694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Fig. 4.">
              <a:extLst>
                <a:ext uri="{FF2B5EF4-FFF2-40B4-BE49-F238E27FC236}">
                  <a16:creationId xmlns:a16="http://schemas.microsoft.com/office/drawing/2014/main" id="{0CF7D8E4-A684-387B-B7D6-E3D62AFA9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64641"/>
              <a:ext cx="10344150" cy="1959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469105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5BC4-C433-1BBB-45E5-F3E384DF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934FC849-9C98-684C-35CF-95214E5C7D4C}"/>
              </a:ext>
            </a:extLst>
          </p:cNvPr>
          <p:cNvGrpSpPr/>
          <p:nvPr/>
        </p:nvGrpSpPr>
        <p:grpSpPr>
          <a:xfrm>
            <a:off x="46004" y="3097877"/>
            <a:ext cx="12099991" cy="3517901"/>
            <a:chOff x="146050" y="3190376"/>
            <a:chExt cx="12099991" cy="351790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5A365A-C193-8C24-E8B0-DF6C8243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4589" t="2206" r="190" b="-1212"/>
            <a:stretch>
              <a:fillRect/>
            </a:stretch>
          </p:blipFill>
          <p:spPr>
            <a:xfrm>
              <a:off x="4891447" y="3190376"/>
              <a:ext cx="7354594" cy="35179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D04883-E941-1D04-91B0-AA1FD480F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65"/>
            <a:stretch>
              <a:fillRect/>
            </a:stretch>
          </p:blipFill>
          <p:spPr>
            <a:xfrm>
              <a:off x="146050" y="3195667"/>
              <a:ext cx="4745397" cy="3512610"/>
            </a:xfrm>
            <a:prstGeom prst="rect">
              <a:avLst/>
            </a:prstGeom>
          </p:spPr>
        </p:pic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D206E0-EB86-4EDC-3DB1-3669FCCDFE53}"/>
              </a:ext>
            </a:extLst>
          </p:cNvPr>
          <p:cNvGrpSpPr/>
          <p:nvPr/>
        </p:nvGrpSpPr>
        <p:grpSpPr>
          <a:xfrm>
            <a:off x="55789" y="40824"/>
            <a:ext cx="7500938" cy="2823026"/>
            <a:chOff x="195262" y="40824"/>
            <a:chExt cx="8446494" cy="3209994"/>
          </a:xfrm>
        </p:grpSpPr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D48A3694-A0B7-4B76-3C7E-D4F67341F1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1" t="3087" r="87594" b="64423"/>
            <a:stretch>
              <a:fillRect/>
            </a:stretch>
          </p:blipFill>
          <p:spPr>
            <a:xfrm>
              <a:off x="195262" y="164650"/>
              <a:ext cx="2776537" cy="3086168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3140032B-8679-6D67-5999-EA2D70E1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0" t="35576" r="87616" b="32639"/>
            <a:stretch>
              <a:fillRect/>
            </a:stretch>
          </p:blipFill>
          <p:spPr>
            <a:xfrm>
              <a:off x="3016929" y="146837"/>
              <a:ext cx="2776537" cy="301927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614C2CDE-0B03-E820-0DCE-B37C990E8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" t="67706" r="87652" b="-196"/>
            <a:stretch>
              <a:fillRect/>
            </a:stretch>
          </p:blipFill>
          <p:spPr>
            <a:xfrm>
              <a:off x="5838596" y="40824"/>
              <a:ext cx="2803160" cy="3115761"/>
            </a:xfrm>
            <a:prstGeom prst="rect">
              <a:avLst/>
            </a:prstGeom>
          </p:spPr>
        </p:pic>
      </p:grpSp>
      <p:pic>
        <p:nvPicPr>
          <p:cNvPr id="24" name="图片 23">
            <a:extLst>
              <a:ext uri="{FF2B5EF4-FFF2-40B4-BE49-F238E27FC236}">
                <a16:creationId xmlns:a16="http://schemas.microsoft.com/office/drawing/2014/main" id="{F24AE5C0-D997-B3D4-D3D8-957E61E70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800" y="242222"/>
            <a:ext cx="4109811" cy="255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89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132F-7D61-14A9-0D08-224B2EC7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184A400-26B4-2BD6-5260-40D03A5E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016" y="3168650"/>
            <a:ext cx="5913453" cy="3543300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CBCB0144-E348-E7A5-EDB4-5065F3C3C9EB}"/>
              </a:ext>
            </a:extLst>
          </p:cNvPr>
          <p:cNvGrpSpPr/>
          <p:nvPr/>
        </p:nvGrpSpPr>
        <p:grpSpPr>
          <a:xfrm>
            <a:off x="-1" y="0"/>
            <a:ext cx="6040292" cy="6800850"/>
            <a:chOff x="-1" y="0"/>
            <a:chExt cx="4007613" cy="451222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DE88A843-01C0-9F5B-F859-0429D2AD0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007612" cy="2162175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9A04BC57-FFDD-6D0E-2CA5-679ED419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345772"/>
              <a:ext cx="4007612" cy="2166456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15B68201-C822-53E6-4984-33B82092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199" y="382987"/>
            <a:ext cx="5740865" cy="249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49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</TotalTime>
  <Words>6</Words>
  <Application>Microsoft Office PowerPoint</Application>
  <PresentationFormat>宽屏</PresentationFormat>
  <Paragraphs>6</Paragraphs>
  <Slides>18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21</cp:revision>
  <dcterms:created xsi:type="dcterms:W3CDTF">2025-08-29T15:58:35Z</dcterms:created>
  <dcterms:modified xsi:type="dcterms:W3CDTF">2025-08-30T07:59:10Z</dcterms:modified>
</cp:coreProperties>
</file>